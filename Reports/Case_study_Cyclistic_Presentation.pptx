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1EbZb0o904sTm6BaE+RRe/Bar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Weekday vs Weekend — Members ride 2x more on weekdays; weekends are nearly equal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00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Weekday</c:v>
                  </c:pt>
                  <c:pt idx="1">
                    <c:v>Weekend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2100000</c:v>
                </c:pt>
                <c:pt idx="1">
                  <c:v>600000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F4A0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Weekday</c:v>
                  </c:pt>
                  <c:pt idx="1">
                    <c:v>Weekend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800000</c:v>
                </c:pt>
                <c:pt idx="1">
                  <c:v>620000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D4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06B6B">
              <a:alpha val="40000"/>
            </a:srgbClr>
          </a:solidFill>
          <a:ln cap="flat" cmpd="sng" w="12700">
            <a:solidFill>
              <a:srgbClr val="006B6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680960" y="2926080"/>
            <a:ext cx="2560320" cy="2560320"/>
          </a:xfrm>
          <a:prstGeom prst="ellipse">
            <a:avLst/>
          </a:prstGeom>
          <a:solidFill>
            <a:srgbClr val="F4A024">
              <a:alpha val="25098"/>
            </a:srgbClr>
          </a:solidFill>
          <a:ln cap="flat" cmpd="sng" w="12700">
            <a:solidFill>
              <a:srgbClr val="F4A02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6400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02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A024"/>
                </a:solidFill>
                <a:latin typeface="Arial"/>
                <a:ea typeface="Arial"/>
                <a:cs typeface="Arial"/>
                <a:sym typeface="Arial"/>
              </a:rPr>
              <a:t>CYCLISTIC BIKE-SHARE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188725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ADCDD"/>
              </a:buClr>
              <a:buSzPts val="1800"/>
              <a:buFont typeface="Arial"/>
              <a:buNone/>
            </a:pPr>
            <a:r>
              <a:rPr b="1" lang="en-US" sz="2800">
                <a:solidFill>
                  <a:srgbClr val="CADCDD"/>
                </a:solidFill>
              </a:rPr>
              <a:t>How Do Members and Casual Riders Use Cyclistic Differently?</a:t>
            </a:r>
            <a:endParaRPr b="1" sz="6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28600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DD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114800"/>
            <a:ext cx="2011680" cy="27432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420624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D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ADCDD"/>
                </a:solidFill>
                <a:latin typeface="Arial"/>
                <a:ea typeface="Arial"/>
                <a:cs typeface="Arial"/>
                <a:sym typeface="Arial"/>
              </a:rPr>
              <a:t>Vansh Dhiman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ADCDD"/>
                </a:solidFill>
                <a:latin typeface="Arial"/>
                <a:ea typeface="Arial"/>
                <a:cs typeface="Arial"/>
                <a:sym typeface="Arial"/>
              </a:rPr>
              <a:t>Junior Data Analyst  |  March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Today's Agenda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1188720"/>
            <a:ext cx="256032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1188720"/>
            <a:ext cx="2560320" cy="32004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12344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02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4A02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22960" y="12344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Task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16459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What problem are we solving?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00400" y="1188720"/>
            <a:ext cx="256032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200400" y="1188720"/>
            <a:ext cx="2560320" cy="32004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91840" y="12344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02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4A02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0" y="12344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337560" y="16459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Where did the data come from?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035040" y="1188720"/>
            <a:ext cx="256032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035040" y="1188720"/>
            <a:ext cx="2560320" cy="32004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126480" y="12344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02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4A02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92240" y="12344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172200" y="16459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What did the data reveal?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691640" y="3017520"/>
            <a:ext cx="256032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1691640" y="3017520"/>
            <a:ext cx="2560320" cy="32004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783080" y="30632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02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4A02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148840" y="30632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828800" y="34747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What should </a:t>
            </a:r>
            <a:r>
              <a:rPr lang="en-US" sz="1200">
                <a:solidFill>
                  <a:srgbClr val="64748B"/>
                </a:solidFill>
              </a:rPr>
              <a:t>Cyclist</a:t>
            </a: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do?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26280" y="3017520"/>
            <a:ext cx="256032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26280" y="3017520"/>
            <a:ext cx="2560320" cy="32004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617720" y="30632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02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4A02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983480" y="30632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663440" y="34747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How do we move forward?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Business Task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solidFill>
            <a:srgbClr val="E0F4F4"/>
          </a:solidFill>
          <a:ln cap="flat" cmpd="sng" w="1905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D"/>
              </a:buClr>
              <a:buSzPts val="1500"/>
              <a:buFont typeface="Georgia"/>
              <a:buNone/>
            </a:pPr>
            <a:r>
              <a:rPr b="0" i="1" lang="en-US" sz="1500" u="none" cap="none" strike="noStrike">
                <a:solidFill>
                  <a:srgbClr val="004D4D"/>
                </a:solidFill>
                <a:latin typeface="Georgia"/>
                <a:ea typeface="Georgia"/>
                <a:cs typeface="Georgia"/>
                <a:sym typeface="Georgia"/>
              </a:rPr>
              <a:t>"Analyze how annual members and casual riders use Cyclistic bikes differently to design a targeted marketing strategy that converts casual riders into annual members."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65760" y="2468880"/>
            <a:ext cx="2651760" cy="219456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65760" y="2468880"/>
            <a:ext cx="2651760" cy="36576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57200" y="248716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02920" y="292608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Annual members are significantly more profitable than casual riders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200400" y="2468880"/>
            <a:ext cx="2651760" cy="219456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200400" y="2468880"/>
            <a:ext cx="2651760" cy="36576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291840" y="248716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Opportunity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337560" y="292608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Casual riders already know and use Cyclistic — they just need to convert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035040" y="2468880"/>
            <a:ext cx="2651760" cy="219456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035040" y="2468880"/>
            <a:ext cx="2651760" cy="36576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126480" y="248716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Goal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172200" y="292608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Design data-backed marketing to convert casual riders into members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65760" y="1005840"/>
            <a:ext cx="1828800" cy="128016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65760" y="1097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~5.5M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65760" y="17373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4F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4F4"/>
                </a:solidFill>
                <a:latin typeface="Arial"/>
                <a:ea typeface="Arial"/>
                <a:cs typeface="Arial"/>
                <a:sym typeface="Arial"/>
              </a:rPr>
              <a:t>Total Ride 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468880" y="1005840"/>
            <a:ext cx="1828800" cy="128016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468880" y="1097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468880" y="17373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4F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4F4"/>
                </a:solidFill>
                <a:latin typeface="Arial"/>
                <a:ea typeface="Arial"/>
                <a:cs typeface="Arial"/>
                <a:sym typeface="Arial"/>
              </a:rPr>
              <a:t>CSV Files Merged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572000" y="1005840"/>
            <a:ext cx="1828800" cy="128016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572000" y="1097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0" y="17373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4F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4F4"/>
                </a:solidFill>
                <a:latin typeface="Arial"/>
                <a:ea typeface="Arial"/>
                <a:cs typeface="Arial"/>
                <a:sym typeface="Arial"/>
              </a:rPr>
              <a:t>Data 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675120" y="1005840"/>
            <a:ext cx="1828800" cy="128016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675120" y="1097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12 mo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675120" y="17373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4F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4F4"/>
                </a:solidFill>
                <a:latin typeface="Arial"/>
                <a:ea typeface="Arial"/>
                <a:cs typeface="Arial"/>
                <a:sym typeface="Arial"/>
              </a:rPr>
              <a:t>Data Period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65760" y="2468880"/>
            <a:ext cx="1920240" cy="347472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2286000" y="2468880"/>
            <a:ext cx="64922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457200" y="250545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377440" y="2505456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Motivate International Inc. — public license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65760" y="2871216"/>
            <a:ext cx="1920240" cy="347472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2286000" y="2871216"/>
            <a:ext cx="6492240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57200" y="290779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Period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377440" y="2907792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March 2025 to February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65760" y="3273552"/>
            <a:ext cx="1920240" cy="347472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286000" y="3273552"/>
            <a:ext cx="64922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57200" y="33101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2377440" y="3310128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Python (Google Colab) — Pandas, Matplotlib, Seaborn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65760" y="3675888"/>
            <a:ext cx="1920240" cy="347472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2286000" y="3675888"/>
            <a:ext cx="6492240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57200" y="371246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377440" y="3712464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ride_id, started_at, ended_at, member_casual, station names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65760" y="4078224"/>
            <a:ext cx="1920240" cy="347472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286000" y="4078224"/>
            <a:ext cx="64922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457200" y="41148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Privacy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377440" y="4114800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No personally identifiable information — riders cannot be tracked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65760" y="4480560"/>
            <a:ext cx="1920240" cy="347472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2286000" y="4480560"/>
            <a:ext cx="6492240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57200" y="451713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377440" y="4517136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Removed negative ride lengths and rides over 24 hours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Finding 1  |  Who Is Riding?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303520" y="1005840"/>
            <a:ext cx="3474720" cy="137160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303520" y="109728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65.10%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303520" y="17373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4F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0F4F4"/>
                </a:solidFill>
                <a:latin typeface="Arial"/>
                <a:ea typeface="Arial"/>
                <a:cs typeface="Arial"/>
                <a:sym typeface="Arial"/>
              </a:rPr>
              <a:t>Annual Members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303520" y="2560320"/>
            <a:ext cx="3474720" cy="137160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303520" y="265176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34.90%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303520" y="32918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Casual Riders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303520" y="4114800"/>
            <a:ext cx="3474720" cy="731520"/>
          </a:xfrm>
          <a:prstGeom prst="rect">
            <a:avLst/>
          </a:prstGeom>
          <a:solidFill>
            <a:srgbClr val="E0F4F4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5394960" y="41605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D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4D4D"/>
                </a:solidFill>
                <a:latin typeface="Arial"/>
                <a:ea typeface="Arial"/>
                <a:cs typeface="Arial"/>
                <a:sym typeface="Arial"/>
              </a:rPr>
              <a:t>Casual riders represent a large and reachable conversion opportunity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5" title="01_member_vs_casual_spl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4990149" cy="392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Finding 2  |  Casual Riders Take Longer Trips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943600" y="1005840"/>
            <a:ext cx="28346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943600" y="1005840"/>
            <a:ext cx="91440" cy="182880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126480" y="10972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02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4A024"/>
                </a:solidFill>
                <a:latin typeface="Arial"/>
                <a:ea typeface="Arial"/>
                <a:cs typeface="Arial"/>
                <a:sym typeface="Arial"/>
              </a:rPr>
              <a:t>Key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126480" y="1371600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Casual riders ride nearly 2x longer on average than annual members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943600" y="3017520"/>
            <a:ext cx="28346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5943600" y="3017520"/>
            <a:ext cx="91440" cy="182880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126480" y="31089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6B6B"/>
                </a:solidFill>
                <a:latin typeface="Arial"/>
                <a:ea typeface="Arial"/>
                <a:cs typeface="Arial"/>
                <a:sym typeface="Arial"/>
              </a:rPr>
              <a:t>What It Means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126480" y="3383280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Casual riders use bikes for leisure and exploration — not routine commuting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6" title="02_avg_ride_dur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5565850" cy="392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Finding 3  |  Members Ride Weekdays, Casual Riders Ride Weekends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675120" y="1005840"/>
            <a:ext cx="2194560" cy="164592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675120" y="109728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766560" y="14630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4F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4F4"/>
                </a:solidFill>
                <a:latin typeface="Arial"/>
                <a:ea typeface="Arial"/>
                <a:cs typeface="Arial"/>
                <a:sym typeface="Arial"/>
              </a:rPr>
              <a:t>Peak day: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766560" y="17373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Thursday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766560" y="21945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4F4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E0F4F4"/>
                </a:solidFill>
                <a:latin typeface="Arial"/>
                <a:ea typeface="Arial"/>
                <a:cs typeface="Arial"/>
                <a:sym typeface="Arial"/>
              </a:rPr>
              <a:t>Commuter behavior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675120" y="2834640"/>
            <a:ext cx="2194560" cy="164592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6675120" y="292608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Casual Riders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766560" y="32918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Peak day: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766560" y="35661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Saturday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766560" y="40233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Leisure behavior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7" title="03_rides_by_d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6370326" cy="393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Finding 4  |  Casual Riders Are Highly Seasonal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858000" y="1097280"/>
            <a:ext cx="201168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6858000" y="1097280"/>
            <a:ext cx="2011680" cy="32004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6949440" y="11430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Members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949440" y="150876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Remain relatively consistent year round — commuting is routine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858000" y="2926080"/>
            <a:ext cx="201168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6858000" y="2926080"/>
            <a:ext cx="2011680" cy="32004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6949440" y="29718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949440" y="333756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Drop sharply in winter — leisure riding is weather-sensitive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Spring = Best time to run membership promotions!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8" title="04_monthly_tr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6553200" cy="391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Finding 5  |  Evening Is Peak Time for Everyone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675120" y="1097280"/>
            <a:ext cx="2194560" cy="164592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6675120" y="11887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Morning Peak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675120" y="155448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7am — 9am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675120" y="2103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Members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675120" y="3017520"/>
            <a:ext cx="2194560" cy="164592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6675120" y="31089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Evening Peak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675120" y="34747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4pm — 7pm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675120" y="40233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Both groups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9" title="05_rides_by_h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6370326" cy="359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Findings 6 &amp; 7  |  Where and When Riders Are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65760" y="1051560"/>
            <a:ext cx="393192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457200" y="10972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 CASUAL STATION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02920" y="150876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DuSable Lake Shore Dr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&amp; Monroe 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02920" y="22860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024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4A024"/>
                </a:solidFill>
                <a:latin typeface="Georgia"/>
                <a:ea typeface="Georgia"/>
                <a:cs typeface="Georgia"/>
                <a:sym typeface="Georgia"/>
              </a:rPr>
              <a:t>~30,000 rides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02920" y="2697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Leisure / Tourism area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754880" y="1051560"/>
            <a:ext cx="393192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4846320" y="10972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 MEMBER STATION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892040" y="150876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Kingsbury 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&amp; Kinzie 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892040" y="22860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06B6B"/>
                </a:solidFill>
                <a:latin typeface="Georgia"/>
                <a:ea typeface="Georgia"/>
                <a:cs typeface="Georgia"/>
                <a:sym typeface="Georgia"/>
              </a:rPr>
              <a:t>~28,000 rides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892040" y="2697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Office / Business district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10"/>
          <p:cNvGraphicFramePr/>
          <p:nvPr/>
        </p:nvGraphicFramePr>
        <p:xfrm>
          <a:off x="274320" y="3749040"/>
          <a:ext cx="8595360" cy="118872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D4D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Top 3 Recommendations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274320" y="1051560"/>
            <a:ext cx="265176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274320" y="1051560"/>
            <a:ext cx="2651760" cy="45720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365760" y="107899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 Station-Based Campaign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11480" y="1645920"/>
            <a:ext cx="2423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Finding: DuSable Lake Shore Dr is #1 casual station with 30k rides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Action: QR code posters + geo-targeted digital ads at top casual stations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Outcome: Reaches highest casual rider concentration at point of 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3200400" y="1051560"/>
            <a:ext cx="265176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291840" y="107899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  Saturday Membership Drive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337560" y="1645920"/>
            <a:ext cx="2423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Finding: Casual riders peak on Saturdays and weekends are nearly equal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Action: Friday evening push notifications with weekend discount offer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Outcome: Converts riders at their peak motivation moment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6126480" y="1051560"/>
            <a:ext cx="265176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6217920" y="107899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  Spring Re-Engagement Campaign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263640" y="1645920"/>
            <a:ext cx="2423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Finding: Casual ridership rebounds strongly in March/April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Action: Email + in-app promotion before summer peak season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Outcome: Converts casual riders before they spend money on single rides all summer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Next Steps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365760" y="1097280"/>
            <a:ext cx="1645920" cy="566928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2103120" y="1097280"/>
            <a:ext cx="6675120" cy="56692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365760" y="118872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Immediate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2240280" y="1188720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Present findings to executive team for campaign approval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365760" y="1847088"/>
            <a:ext cx="1645920" cy="566928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2103120" y="1847088"/>
            <a:ext cx="667512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365760" y="193852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Short Term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2240280" y="1938528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Launch pilot campaign at DuSable Lake Shore Dr station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365760" y="2596896"/>
            <a:ext cx="1645920" cy="566928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2103120" y="2596896"/>
            <a:ext cx="6675120" cy="56692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365760" y="268833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Medium Term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2240280" y="2688336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A/B test Saturday drive vs Spring campaign — measure conversion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365760" y="3346704"/>
            <a:ext cx="1645920" cy="566928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2103120" y="3346704"/>
            <a:ext cx="667512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365760" y="3438144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Gap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2240280" y="3438144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Collect demographic data and survey casual riders on membership barriers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365760" y="4096512"/>
            <a:ext cx="1645920" cy="566928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2103120" y="4096512"/>
            <a:ext cx="6675120" cy="56692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365760" y="418795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2240280" y="4187952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Report monthly conversion rate after campaign launch to stakeholders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D4D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06B6B">
              <a:alpha val="34901"/>
            </a:srgbClr>
          </a:solidFill>
          <a:ln cap="flat" cmpd="sng" w="12700">
            <a:solidFill>
              <a:srgbClr val="006B6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F4A024">
              <a:alpha val="25098"/>
            </a:srgbClr>
          </a:solidFill>
          <a:ln cap="flat" cmpd="sng" w="12700">
            <a:solidFill>
              <a:srgbClr val="F4A02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457200" y="9144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57200" y="2011680"/>
            <a:ext cx="2286000" cy="36576"/>
          </a:xfrm>
          <a:prstGeom prst="rect">
            <a:avLst/>
          </a:prstGeom>
          <a:solidFill>
            <a:srgbClr val="F4A024"/>
          </a:solidFill>
          <a:ln cap="flat" cmpd="sng" w="12700">
            <a:solidFill>
              <a:srgbClr val="F4A0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457200" y="2516501"/>
            <a:ext cx="5486400" cy="12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D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ADCDD"/>
                </a:solidFill>
                <a:latin typeface="Arial"/>
                <a:ea typeface="Arial"/>
                <a:cs typeface="Arial"/>
                <a:sym typeface="Arial"/>
              </a:rPr>
              <a:t>Vansh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DD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ADCDD"/>
                </a:solidFill>
                <a:latin typeface="Arial"/>
                <a:ea typeface="Arial"/>
                <a:cs typeface="Arial"/>
                <a:sym typeface="Arial"/>
              </a:rPr>
              <a:t>Junior Data Analyst — Marketing Analytics Team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DD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ADCDD"/>
                </a:solidFill>
                <a:latin typeface="Arial"/>
                <a:ea typeface="Arial"/>
                <a:cs typeface="Arial"/>
                <a:sym typeface="Arial"/>
              </a:rPr>
              <a:t>vanshdhiman090@gmail.com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DD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2026-03-21T20:34:07Z</dcterms:created>
  <dc:creator>Vansh Dhiman</dc:creator>
</cp:coreProperties>
</file>